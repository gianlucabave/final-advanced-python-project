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122" y="-1691640"/>
            <a:ext cx="6400800" cy="6400800"/>
          </a:xfrm>
          <a:prstGeom prst="ellipse">
            <a:avLst/>
          </a:prstGeom>
          <a:solidFill>
            <a:srgbClr val="0A84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46" y="3086100"/>
            <a:ext cx="5486400" cy="5486400"/>
          </a:xfrm>
          <a:prstGeom prst="ellipse">
            <a:avLst/>
          </a:prstGeom>
          <a:solidFill>
            <a:srgbClr val="BF5AF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0" y="1371600"/>
            <a:ext cx="1971446" cy="4023360"/>
          </a:xfrm>
          <a:prstGeom prst="roundRect">
            <a:avLst>
              <a:gd name="adj" fmla="val 16000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AAAA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70264" y="1472184"/>
            <a:ext cx="1770278" cy="3822192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A84FF"/>
              </a:gs>
              <a:gs pos="100000">
                <a:srgbClr val="1C1C28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0257" y="1520464"/>
            <a:ext cx="670291" cy="120700"/>
          </a:xfrm>
          <a:prstGeom prst="roundRect">
            <a:avLst/>
          </a:prstGeom>
          <a:solidFill>
            <a:srgbClr val="0B0B0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874519"/>
            <a:ext cx="420624" cy="49970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274320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852928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F Pro Text"/>
              </a:rPr>
              <a:t>€299  iPhone 13 Pro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EAEB2"/>
                </a:solidFill>
                <a:latin typeface="SF Pro Text"/>
              </a:rPr>
              <a:t>Fair value €409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0D158"/>
                </a:solidFill>
                <a:latin typeface="SF Pro Text"/>
              </a:rPr>
              <a:t>+31% margin · score 0.76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7033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0D15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0B0B0F"/>
                </a:solidFill>
                <a:latin typeface="SF Pro Text"/>
              </a:rPr>
              <a:t>STRONG BUY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7589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SF Pro Display"/>
              </a:rPr>
              <a:t>iPhone Deal-Finder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AEAEB2"/>
                </a:solidFill>
                <a:latin typeface="SF Pro Text"/>
              </a:rPr>
              <a:t>Machine learning that predicts an iPhone's fair value and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AEAEB2"/>
                </a:solidFill>
                <a:latin typeface="SF Pro Text"/>
              </a:rPr>
              <a:t>spots underpriced listings, on live data, in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98348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0A8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FFFFF"/>
                </a:solidFill>
                <a:latin typeface="SF Pro Text"/>
              </a:rPr>
              <a:t>Advanced Python · ESADE · Final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692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EAEB2"/>
                </a:solidFill>
                <a:latin typeface="SF Mono"/>
              </a:rPr>
              <a:t>Regression  ·  Web scraping  ·  XGBoost  ·  13,745 real listings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19740" y="-1371600"/>
            <a:ext cx="5486400" cy="5486400"/>
          </a:xfrm>
          <a:prstGeom prst="ellipse">
            <a:avLst/>
          </a:prstGeom>
          <a:solidFill>
            <a:srgbClr val="0A84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84FF"/>
                </a:solidFill>
                <a:latin typeface="SF Pro Text"/>
              </a:rPr>
              <a:t>01 · PROJECT EXPLANATION 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The goal: a price brain for second-hand iPhones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6675120" cy="4663440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0A84FF"/>
                </a:solidFill>
                <a:latin typeface="SF Pro Text"/>
              </a:rPr>
              <a:t>Question  </a:t>
            </a:r>
            <a:r>
              <a:rPr sz="1600">
                <a:solidFill>
                  <a:srgbClr val="FFFFFF"/>
                </a:solidFill>
                <a:latin typeface="SF Pro Text"/>
              </a:rPr>
              <a:t>“Of all iPhones for sale right now, which are the best deals to buy and resell?”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A84FF"/>
                </a:solidFill>
                <a:latin typeface="SF Pro Text"/>
              </a:rPr>
              <a:t>Model  </a:t>
            </a:r>
            <a:r>
              <a:rPr sz="1600">
                <a:solidFill>
                  <a:srgbClr val="FFFFFF"/>
                </a:solidFill>
                <a:latin typeface="SF Pro Text"/>
              </a:rPr>
              <a:t>supervised regression that predicts fair market value, plus calibrated uncertainty.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A84FF"/>
                </a:solidFill>
                <a:latin typeface="SF Pro Text"/>
              </a:rPr>
              <a:t>On top  </a:t>
            </a:r>
            <a:r>
              <a:rPr sz="1600">
                <a:solidFill>
                  <a:srgbClr val="FFFFFF"/>
                </a:solidFill>
                <a:latin typeface="SF Pro Text"/>
              </a:rPr>
              <a:t>an investment score → a clear BUY / HOLD / SKIP decision with reasons.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A84FF"/>
                </a:solidFill>
                <a:latin typeface="SF Pro Text"/>
              </a:rPr>
              <a:t>Context  </a:t>
            </a:r>
            <a:r>
              <a:rPr sz="1600">
                <a:solidFill>
                  <a:srgbClr val="FFFFFF"/>
                </a:solidFill>
                <a:latin typeface="SF Pro Text"/>
              </a:rPr>
              <a:t>Wallapop is Spain's largest second-hand marketplace; prices are noisy and inconsistent.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A84FF"/>
                </a:solidFill>
                <a:latin typeface="SF Pro Text"/>
              </a:rPr>
              <a:t>Real use  </a:t>
            </a:r>
            <a:r>
              <a:rPr sz="1600">
                <a:solidFill>
                  <a:srgbClr val="FFFFFF"/>
                </a:solidFill>
                <a:latin typeface="SF Pro Text"/>
              </a:rPr>
              <a:t>resale arbitrage and smart buying: rank live listings by expected profit, flag scams.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554480"/>
            <a:ext cx="3931920" cy="466344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F Pro Display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468880"/>
            <a:ext cx="3474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F Pro Text"/>
              </a:rPr>
              <a:t>A 28% margin on a €420 phone is €120 profit.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EAEB2"/>
                </a:solidFill>
                <a:latin typeface="SF Pro Text"/>
              </a:rPr>
              <a:t>if you can tell a deal from a dud before it sells.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AEAEB2"/>
                </a:solidFill>
                <a:latin typeface="SF Pro Text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F Pro Text"/>
              </a:rPr>
              <a:t>Deals vanish in hours.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EAEB2"/>
                </a:solidFill>
                <a:latin typeface="SF Pro Text"/>
              </a:rPr>
              <a:t>Speed + objectivity beat manual eyeballing.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04861" y="-685800"/>
            <a:ext cx="5486400" cy="5486400"/>
          </a:xfrm>
          <a:prstGeom prst="ellipse">
            <a:avLst/>
          </a:prstGeom>
          <a:solidFill>
            <a:srgbClr val="30D15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0D158"/>
                </a:solidFill>
                <a:latin typeface="SF Pro Text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One command → ranked deals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448056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D158"/>
                </a:solidFill>
                <a:latin typeface="SF Mono"/>
              </a:rPr>
              <a:t>$ python -m src.cli scan --model "iPhone 13 Pro" --city madrid --max-price 700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6888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51760"/>
            <a:ext cx="4572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SF Pro Display"/>
              </a:rPr>
              <a:t>€299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AEB2"/>
                </a:solidFill>
                <a:latin typeface="SF Pro Text"/>
              </a:rPr>
              <a:t>iPhone 13 Pro · TIENDA/GARANTÍA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600" b="0">
                <a:solidFill>
                  <a:srgbClr val="AEAEB2"/>
                </a:solidFill>
                <a:latin typeface="SF Pro Text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SF Pro Text"/>
              </a:rPr>
              <a:t>Fair value: €409  [300–403]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EAEB2"/>
                </a:solidFill>
                <a:latin typeface="SF Pro Text"/>
              </a:rPr>
              <a:t>Margin +31.0%   ·   Confidence MEDIUM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0D158"/>
                </a:solidFill>
                <a:latin typeface="SF Pro Text"/>
              </a:rPr>
              <a:t>Investment score 0.76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1663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0D15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0B0B0F"/>
                </a:solidFill>
                <a:latin typeface="SF Pro Text"/>
              </a:rPr>
              <a:t>STRONG 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46888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651760"/>
            <a:ext cx="4572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SF Pro Display"/>
              </a:rPr>
              <a:t>€300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AEB2"/>
                </a:solidFill>
                <a:latin typeface="SF Pro Text"/>
              </a:rPr>
              <a:t>iPhone 13 Pro Max 256GB Titanio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600" b="0">
                <a:solidFill>
                  <a:srgbClr val="AEAEB2"/>
                </a:solidFill>
                <a:latin typeface="SF Pro Text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SF Pro Text"/>
              </a:rPr>
              <a:t>Fair value: €569  [347–596]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EAEB2"/>
                </a:solidFill>
                <a:latin typeface="SF Pro Text"/>
              </a:rPr>
              <a:t>Margin +82.2%   ·   Confidence LOW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9F0A"/>
                </a:solidFill>
                <a:latin typeface="SF Pro Text"/>
              </a:rPr>
              <a:t>Investment score 0.73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59" y="51663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9F0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0B0B0F"/>
                </a:solidFill>
                <a:latin typeface="SF Pro Text"/>
              </a:rPr>
              <a:t>BUY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84FF"/>
                </a:solidFill>
                <a:latin typeface="SF Pro Text"/>
              </a:rPr>
              <a:t>02 · CHALLENGE DEFINITION 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Why this is genuinely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457200" cy="109728"/>
          </a:xfrm>
          <a:prstGeom prst="roundRect">
            <a:avLst/>
          </a:prstGeom>
          <a:solidFill>
            <a:srgbClr val="FF9F0A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240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F Pro Display"/>
              </a:rPr>
              <a:t>No labels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AEAEB2"/>
                </a:solidFill>
                <a:latin typeface="SF Pro Text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AEAEB2"/>
                </a:solidFill>
                <a:latin typeface="SF Pro Text"/>
              </a:rPr>
              <a:t>Wallapop shows asking prices, never sold prices, so the model learns fair value from the crowd.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75888" y="2011680"/>
            <a:ext cx="457200" cy="109728"/>
          </a:xfrm>
          <a:prstGeom prst="roundRect">
            <a:avLst/>
          </a:prstGeom>
          <a:solidFill>
            <a:srgbClr val="0A84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2240280"/>
            <a:ext cx="2240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F Pro Display"/>
              </a:rPr>
              <a:t>Messy free text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AEAEB2"/>
                </a:solidFill>
                <a:latin typeface="SF Pro Text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AEAEB2"/>
                </a:solidFill>
                <a:latin typeface="SF Pro Text"/>
              </a:rPr>
              <a:t>Specs hide in Spanish prose: “batería 92%”, “como nuevo”, storage often omitted.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83096" y="2011680"/>
            <a:ext cx="457200" cy="109728"/>
          </a:xfrm>
          <a:prstGeom prst="roundRect">
            <a:avLst/>
          </a:prstGeom>
          <a:solidFill>
            <a:srgbClr val="30D15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2240280"/>
            <a:ext cx="2240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F Pro Display"/>
              </a:rPr>
              <a:t>Bot walls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AEAEB2"/>
                </a:solidFill>
                <a:latin typeface="SF Pro Text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AEAEB2"/>
                </a:solidFill>
                <a:latin typeface="SF Pro Text"/>
              </a:rPr>
              <a:t>eBay &amp; Backmarket fingerprint the TLS handshake and 403 datacenter 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90304" y="2011680"/>
            <a:ext cx="457200" cy="109728"/>
          </a:xfrm>
          <a:prstGeom prst="roundRect">
            <a:avLst/>
          </a:prstGeom>
          <a:solidFill>
            <a:srgbClr val="BF5A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0304" y="2240280"/>
            <a:ext cx="2240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F Pro Display"/>
              </a:rPr>
              <a:t>Uncertainty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AEAEB2"/>
                </a:solidFill>
                <a:latin typeface="SF Pro Text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AEAEB2"/>
                </a:solidFill>
                <a:latin typeface="SF Pro Text"/>
              </a:rPr>
              <a:t>A single price isn't enough; a recommendation needs calibrated confidence.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10156" y="2743200"/>
            <a:ext cx="5486400" cy="5486400"/>
          </a:xfrm>
          <a:prstGeom prst="ellipse">
            <a:avLst/>
          </a:prstGeom>
          <a:solidFill>
            <a:srgbClr val="BF5AF2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84FF"/>
                </a:solidFill>
                <a:latin typeface="SF Pro Text"/>
              </a:rPr>
              <a:t>DATA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13,745 real listings · 4 marketplaces</a:t>
            </a:r>
          </a:p>
        </p:txBody>
      </p:sp>
      <p:pic>
        <p:nvPicPr>
          <p:cNvPr id="6" name="Picture 5" descr="eb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188720" cy="477865"/>
          </a:xfrm>
          <a:prstGeom prst="rect">
            <a:avLst/>
          </a:prstGeom>
        </p:spPr>
      </p:pic>
      <p:pic>
        <p:nvPicPr>
          <p:cNvPr id="7" name="Picture 6" descr="app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457200"/>
            <a:ext cx="365760" cy="434523"/>
          </a:xfrm>
          <a:prstGeom prst="rect">
            <a:avLst/>
          </a:prstGeom>
        </p:spPr>
      </p:pic>
      <p:pic>
        <p:nvPicPr>
          <p:cNvPr id="8" name="Picture 7" descr="slide_data_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4126021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64592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Wallapop · 8,262  </a:t>
            </a:r>
            <a:r>
              <a:rPr sz="1450">
                <a:solidFill>
                  <a:srgbClr val="FFFFFF"/>
                </a:solidFill>
                <a:latin typeface="SF Pro Text"/>
              </a:rPr>
              <a:t>scraped LIVE from its JSON backend (no API, no keys). 20 models × 6 Spanish cities. Deployment market.</a:t>
            </a:r>
          </a:p>
          <a:p>
            <a:pPr>
              <a:spcAft>
                <a:spcPts val="12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eBay sold · 957  </a:t>
            </a:r>
            <a:r>
              <a:rPr sz="1450">
                <a:solidFill>
                  <a:srgbClr val="FFFFFF"/>
                </a:solidFill>
                <a:latin typeface="SF Pro Text"/>
              </a:rPr>
              <a:t>real completed-sale prices with dates, via sold-listings HTML.</a:t>
            </a:r>
          </a:p>
          <a:p>
            <a:pPr>
              <a:spcAft>
                <a:spcPts val="12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eBay archive · 2,165  </a:t>
            </a:r>
            <a:r>
              <a:rPr sz="1450">
                <a:solidFill>
                  <a:srgbClr val="FFFFFF"/>
                </a:solidFill>
                <a:latin typeface="SF Pro Text"/>
              </a:rPr>
              <a:t>historical 2023 US listings for temporal depth.</a:t>
            </a:r>
          </a:p>
          <a:p>
            <a:pPr>
              <a:spcAft>
                <a:spcPts val="12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US e-commerce · 2,361  </a:t>
            </a:r>
            <a:r>
              <a:rPr sz="1450">
                <a:solidFill>
                  <a:srgbClr val="FFFFFF"/>
                </a:solidFill>
                <a:latin typeface="SF Pro Text"/>
              </a:rPr>
              <a:t>2026 resale records, sale-evidenced.</a:t>
            </a:r>
          </a:p>
          <a:p>
            <a:pPr>
              <a:spcAft>
                <a:spcPts val="12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Normalized  </a:t>
            </a:r>
            <a:r>
              <a:rPr sz="1450">
                <a:solidFill>
                  <a:srgbClr val="FFFFFF"/>
                </a:solidFill>
                <a:latin typeface="SF Pro Text"/>
              </a:rPr>
              <a:t>all prices → EUR, stored in Parquet, quality-weighted at merge.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84FF"/>
                </a:solidFill>
                <a:latin typeface="SF Pro Text"/>
              </a:rPr>
              <a:t>03 · TECHNICAL SOLUTION /25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SF Pro Display"/>
              </a:rPr>
              <a:t>Scrapers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Wallapop · eBay</a:t>
            </a:r>
          </a:p>
        </p:txBody>
      </p:sp>
      <p:sp>
        <p:nvSpPr>
          <p:cNvPr id="7" name="Chevron 6"/>
          <p:cNvSpPr/>
          <p:nvPr/>
        </p:nvSpPr>
        <p:spPr>
          <a:xfrm>
            <a:off x="2267712" y="2761488"/>
            <a:ext cx="201168" cy="411480"/>
          </a:xfrm>
          <a:prstGeom prst="chevron">
            <a:avLst/>
          </a:prstGeom>
          <a:solidFill>
            <a:srgbClr val="0A84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14016" y="219456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4016" y="260604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SF Pro Display"/>
              </a:rPr>
              <a:t>Data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validate · parquet</a:t>
            </a:r>
          </a:p>
        </p:txBody>
      </p:sp>
      <p:sp>
        <p:nvSpPr>
          <p:cNvPr id="10" name="Chevron 9"/>
          <p:cNvSpPr/>
          <p:nvPr/>
        </p:nvSpPr>
        <p:spPr>
          <a:xfrm>
            <a:off x="4178808" y="2761488"/>
            <a:ext cx="201168" cy="411480"/>
          </a:xfrm>
          <a:prstGeom prst="chevron">
            <a:avLst/>
          </a:prstGeom>
          <a:solidFill>
            <a:srgbClr val="0A84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219456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60604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SF Pro Display"/>
              </a:rPr>
              <a:t>FeaturePipeline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parse · encode</a:t>
            </a:r>
          </a:p>
        </p:txBody>
      </p:sp>
      <p:sp>
        <p:nvSpPr>
          <p:cNvPr id="13" name="Chevron 12"/>
          <p:cNvSpPr/>
          <p:nvPr/>
        </p:nvSpPr>
        <p:spPr>
          <a:xfrm>
            <a:off x="6089904" y="2761488"/>
            <a:ext cx="201168" cy="411480"/>
          </a:xfrm>
          <a:prstGeom prst="chevron">
            <a:avLst/>
          </a:prstGeom>
          <a:solidFill>
            <a:srgbClr val="0A84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8" y="219456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60604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SF Pro Display"/>
              </a:rPr>
              <a:t>Models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XGBoost · quantile</a:t>
            </a:r>
          </a:p>
        </p:txBody>
      </p:sp>
      <p:sp>
        <p:nvSpPr>
          <p:cNvPr id="16" name="Chevron 15"/>
          <p:cNvSpPr/>
          <p:nvPr/>
        </p:nvSpPr>
        <p:spPr>
          <a:xfrm>
            <a:off x="8001000" y="2761488"/>
            <a:ext cx="201168" cy="411480"/>
          </a:xfrm>
          <a:prstGeom prst="chevron">
            <a:avLst/>
          </a:prstGeom>
          <a:solidFill>
            <a:srgbClr val="0A84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47304" y="219456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260604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SF Pro Display"/>
              </a:rPr>
              <a:t>Scorer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margin × conf</a:t>
            </a:r>
          </a:p>
        </p:txBody>
      </p:sp>
      <p:sp>
        <p:nvSpPr>
          <p:cNvPr id="19" name="Chevron 18"/>
          <p:cNvSpPr/>
          <p:nvPr/>
        </p:nvSpPr>
        <p:spPr>
          <a:xfrm>
            <a:off x="9912096" y="2761488"/>
            <a:ext cx="201168" cy="411480"/>
          </a:xfrm>
          <a:prstGeom prst="chevron">
            <a:avLst/>
          </a:prstGeom>
          <a:solidFill>
            <a:srgbClr val="0A84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0" y="219456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60604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SF Pro Display"/>
              </a:rPr>
              <a:t>Report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CLI · plots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06240"/>
            <a:ext cx="10881360" cy="192024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Single FeaturePipeline  </a:t>
            </a:r>
            <a:r>
              <a:rPr sz="1450">
                <a:solidFill>
                  <a:srgbClr val="FFFFFF"/>
                </a:solidFill>
                <a:latin typeface="SF Pro Text"/>
              </a:rPr>
              <a:t>fitted once, serialized, reloaded at inference → identical features at train &amp; serve (zero skew).</a:t>
            </a:r>
          </a:p>
          <a:p>
            <a:pPr>
              <a:spcAft>
                <a:spcPts val="10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Clean OOP  </a:t>
            </a:r>
            <a:r>
              <a:rPr sz="1450">
                <a:solidFill>
                  <a:srgbClr val="FFFFFF"/>
                </a:solidFill>
                <a:latin typeface="SF Pro Text"/>
              </a:rPr>
              <a:t>abstract BaseScraper / BaseModel, __slots__ containers, custom exception hierarchy, typed config, structured logging.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84FF"/>
                </a:solidFill>
                <a:latin typeface="SF Pro Text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From Spanish prose to 105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120640" cy="448056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EAEB2"/>
                </a:solidFill>
                <a:latin typeface="SF Mono"/>
              </a:rPr>
              <a:t>raw listing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F Pro Text"/>
              </a:rPr>
              <a:t>“iPhone 13 Pro 256GB Sierra Blue batería 92% como nuevo”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0D158"/>
                </a:solidFill>
                <a:latin typeface="SF Mono"/>
              </a:rPr>
              <a:t>↓  parsed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400">
                <a:solidFill>
                  <a:srgbClr val="0A84FF"/>
                </a:solidFill>
                <a:latin typeface="SF Pro Text"/>
              </a:rPr>
              <a:t>model  </a:t>
            </a:r>
            <a:r>
              <a:rPr sz="1400">
                <a:solidFill>
                  <a:srgbClr val="FFFFFF"/>
                </a:solidFill>
                <a:latin typeface="SF Pro Text"/>
              </a:rPr>
              <a:t>iPhone 13 Pro · year 2021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A84FF"/>
                </a:solidFill>
                <a:latin typeface="SF Pro Text"/>
              </a:rPr>
              <a:t>storage  </a:t>
            </a:r>
            <a:r>
              <a:rPr sz="1400">
                <a:solidFill>
                  <a:srgbClr val="FFFFFF"/>
                </a:solidFill>
                <a:latin typeface="SF Pro Text"/>
              </a:rPr>
              <a:t>256 GB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A84FF"/>
                </a:solidFill>
                <a:latin typeface="SF Pro Text"/>
              </a:rPr>
              <a:t>battery  </a:t>
            </a:r>
            <a:r>
              <a:rPr sz="1400">
                <a:solidFill>
                  <a:srgbClr val="FFFFFF"/>
                </a:solidFill>
                <a:latin typeface="SF Pro Text"/>
              </a:rPr>
              <a:t>92%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A84FF"/>
                </a:solidFill>
                <a:latin typeface="SF Pro Text"/>
              </a:rPr>
              <a:t>colour  </a:t>
            </a:r>
            <a:r>
              <a:rPr sz="1400">
                <a:solidFill>
                  <a:srgbClr val="FFFFFF"/>
                </a:solidFill>
                <a:latin typeface="SF Pro Text"/>
              </a:rPr>
              <a:t>sierra blue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A84FF"/>
                </a:solidFill>
                <a:latin typeface="SF Pro Text"/>
              </a:rPr>
              <a:t>condition  </a:t>
            </a:r>
            <a:r>
              <a:rPr sz="1400">
                <a:solidFill>
                  <a:srgbClr val="FFFFFF"/>
                </a:solidFill>
                <a:latin typeface="SF Pro Text"/>
              </a:rPr>
              <a:t>like-new (4/5)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Regex + fuzzy  </a:t>
            </a:r>
            <a:r>
              <a:rPr sz="1450">
                <a:solidFill>
                  <a:srgbClr val="FFFFFF"/>
                </a:solidFill>
                <a:latin typeface="SF Pro Text"/>
              </a:rPr>
              <a:t>model, storage, battery, colour, condition from free text (97% model-ID rate).</a:t>
            </a:r>
          </a:p>
          <a:p>
            <a:pPr>
              <a:spcAft>
                <a:spcPts val="12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TF-IDF  </a:t>
            </a:r>
            <a:r>
              <a:rPr sz="1450">
                <a:solidFill>
                  <a:srgbClr val="FFFFFF"/>
                </a:solidFill>
                <a:latin typeface="SF Pro Text"/>
              </a:rPr>
              <a:t>top-50 description tokens capture wording signal.</a:t>
            </a:r>
          </a:p>
          <a:p>
            <a:pPr>
              <a:spcAft>
                <a:spcPts val="12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Engineered  </a:t>
            </a:r>
            <a:r>
              <a:rPr sz="1450">
                <a:solidFill>
                  <a:srgbClr val="FFFFFF"/>
                </a:solidFill>
                <a:latin typeface="SF Pro Text"/>
              </a:rPr>
              <a:t>days-since-posted, seller activity, photo count, city tier.</a:t>
            </a:r>
          </a:p>
          <a:p>
            <a:pPr>
              <a:spcAft>
                <a:spcPts val="12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Market / source  </a:t>
            </a:r>
            <a:r>
              <a:rPr sz="1450">
                <a:solidFill>
                  <a:srgbClr val="FFFFFF"/>
                </a:solidFill>
                <a:latin typeface="SF Pro Text"/>
              </a:rPr>
              <a:t>indicator features let one model serve multiple marketplaces.</a:t>
            </a:r>
          </a:p>
          <a:p>
            <a:pPr>
              <a:spcAft>
                <a:spcPts val="12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Imputation  </a:t>
            </a:r>
            <a:r>
              <a:rPr sz="1450">
                <a:solidFill>
                  <a:srgbClr val="FFFFFF"/>
                </a:solidFill>
                <a:latin typeface="SF Pro Text"/>
              </a:rPr>
              <a:t>battery/storage by model-family median; nothing dropped silently.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84FF"/>
                </a:solidFill>
                <a:latin typeface="SF Pro Text"/>
              </a:rPr>
              <a:t>03 · TECHNICAL SOLUTION /25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Baseline → boosting → calibrated intervals</a:t>
            </a:r>
          </a:p>
        </p:txBody>
      </p:sp>
      <p:pic>
        <p:nvPicPr>
          <p:cNvPr id="5" name="Picture 4" descr="slide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486400" cy="3552317"/>
          </a:xfrm>
          <a:prstGeom prst="rect">
            <a:avLst/>
          </a:prstGeom>
        </p:spPr>
      </p:pic>
      <p:pic>
        <p:nvPicPr>
          <p:cNvPr id="6" name="Picture 5" descr="slide_pr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4154905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53212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50992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F Pro Text"/>
              </a:rPr>
              <a:t>Out-of-time split (no future leakage)  ·  LightGBM best: R² 0.642, MAE €72  ·  80% prediction intervals via Conformalized Quantile Regression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10156" y="-1028700"/>
            <a:ext cx="5486400" cy="5486400"/>
          </a:xfrm>
          <a:prstGeom prst="ellipse">
            <a:avLst/>
          </a:prstGeom>
          <a:solidFill>
            <a:srgbClr val="30D15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0D158"/>
                </a:solidFill>
                <a:latin typeface="SF Pro Text"/>
              </a:rPr>
              <a:t>THE 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Investment score →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658368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6126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SF Mono"/>
              </a:rPr>
              <a:t>investment_score =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A84FF"/>
                </a:solidFill>
                <a:latin typeface="SF Mono"/>
              </a:rPr>
              <a:t>0.5 · σ(margin·5)  +  0.3 · confidence  +  0.2 · (1 − risk)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03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0D15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0B0B0F"/>
                </a:solidFill>
                <a:latin typeface="SF Pro Text"/>
              </a:rPr>
              <a:t>STRONG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0332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F Mono"/>
              </a:rPr>
              <a:t>≥ 0.75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2702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9BE8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0B0B0F"/>
                </a:solidFill>
                <a:latin typeface="SF Pro Text"/>
              </a:rPr>
              <a:t>BUY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270248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F Mono"/>
              </a:rPr>
              <a:t>0.55–0.75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83717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AEAEB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0B0B0F"/>
                </a:solidFill>
                <a:latin typeface="SF Pro Text"/>
              </a:rPr>
              <a:t>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837176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F Mono"/>
              </a:rPr>
              <a:t>0.35–0.55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0410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453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FFFFF"/>
                </a:solidFill>
                <a:latin typeface="SF Pro Text"/>
              </a:rPr>
              <a:t>SKIP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404104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F Mono"/>
              </a:rPr>
              <a:t>&lt; 0.35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4023360" cy="448056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874519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F Pro Display"/>
              </a:rPr>
              <a:t>Risk heuristics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468880"/>
            <a:ext cx="3566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>
                <a:solidFill>
                  <a:srgbClr val="FFFFFF"/>
                </a:solidFill>
                <a:latin typeface="SF Pro Text"/>
              </a:rPr>
              <a:t>•  Price &lt; 30% of fair → scam flag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FFFFFF"/>
                </a:solidFill>
                <a:latin typeface="SF Pro Text"/>
              </a:rPr>
              <a:t>•  No battery info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FFFFFF"/>
                </a:solidFill>
                <a:latin typeface="SF Pro Text"/>
              </a:rPr>
              <a:t>•  Fewer than 2 photos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FFFFFF"/>
                </a:solidFill>
                <a:latin typeface="SF Pro Text"/>
              </a:rPr>
              <a:t>•  “para piezas” / damaged wording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FFFFFF"/>
                </a:solidFill>
                <a:latin typeface="SF Pro Text"/>
              </a:rPr>
              <a:t>•  iCloud-locked / suspicious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84FF"/>
                </a:solidFill>
                <a:latin typeface="SF Pro Text"/>
              </a:rPr>
              <a:t>04 · VALUE OR IMPACT 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Why it beats eyeballing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74720" cy="2468880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457200" cy="109728"/>
          </a:xfrm>
          <a:prstGeom prst="roundRect">
            <a:avLst/>
          </a:prstGeom>
          <a:solidFill>
            <a:srgbClr val="30D15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F Pro Display"/>
              </a:rPr>
              <a:t>Resellers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AEAEB2"/>
                </a:solidFill>
                <a:latin typeface="SF Pro Text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AEAEB2"/>
                </a:solidFill>
                <a:latin typeface="SF Pro Text"/>
              </a:rPr>
              <a:t>rank hundreds of listings by expected profit in seconds, never overpay.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2468880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965960"/>
            <a:ext cx="457200" cy="109728"/>
          </a:xfrm>
          <a:prstGeom prst="roundRect">
            <a:avLst/>
          </a:prstGeom>
          <a:solidFill>
            <a:srgbClr val="0A84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F Pro Display"/>
              </a:rPr>
              <a:t>Buyers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AEAEB2"/>
                </a:solidFill>
                <a:latin typeface="SF Pro Text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AEAEB2"/>
                </a:solidFill>
                <a:latin typeface="SF Pro Text"/>
              </a:rPr>
              <a:t>an objective fair-value second opinion + a scam radar before you message a seller.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37360"/>
            <a:ext cx="3474720" cy="2468880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5319" y="1965960"/>
            <a:ext cx="457200" cy="109728"/>
          </a:xfrm>
          <a:prstGeom prst="roundRect">
            <a:avLst/>
          </a:prstGeom>
          <a:solidFill>
            <a:srgbClr val="BF5A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219456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F Pro Display"/>
              </a:rPr>
              <a:t>Researchers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AEAEB2"/>
                </a:solidFill>
                <a:latin typeface="SF Pro Text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AEAEB2"/>
                </a:solidFill>
                <a:latin typeface="SF Pro Text"/>
              </a:rPr>
              <a:t>a reproducible, versioned pipeline for second-hand price dynamics.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80560"/>
            <a:ext cx="1088136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vs manual  </a:t>
            </a:r>
            <a:r>
              <a:rPr sz="1450">
                <a:solidFill>
                  <a:srgbClr val="FFFFFF"/>
                </a:solidFill>
                <a:latin typeface="SF Pro Text"/>
              </a:rPr>
              <a:t>objective (model, not gut) · exhaustive (every listing) · fast (~1,670 listings/sec) · uncertainty-aware.</a:t>
            </a:r>
          </a:p>
          <a:p>
            <a:pPr>
              <a:spcAft>
                <a:spcPts val="1000"/>
              </a:spcAft>
            </a:pPr>
            <a:r>
              <a:rPr b="1" sz="1450">
                <a:solidFill>
                  <a:srgbClr val="0A84FF"/>
                </a:solidFill>
                <a:latin typeface="SF Pro Text"/>
              </a:rPr>
              <a:t>vs naive baseline  </a:t>
            </a:r>
            <a:r>
              <a:rPr sz="1450">
                <a:solidFill>
                  <a:srgbClr val="FFFFFF"/>
                </a:solidFill>
                <a:latin typeface="SF Pro Text"/>
              </a:rPr>
              <a:t>Ridge floor R² 0.58 → boosting 0.64; calibrated intervals turn a guess into a confidence.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84FF"/>
                </a:solidFill>
                <a:latin typeface="SF Pro Text"/>
              </a:rPr>
              <a:t>05 · STRUGGLES &amp; PROBLEM-SOLVING 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Six real problems, six fixes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438912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
                  <a:srgbClr val="FF9F0A"/>
                </a:solidFill>
              </a:rPr>
              <a:t>● </a:t>
            </a:r>
            <a:r>
              <a:rPr sz="1500" b="1">
                <a:solidFill>
                  <a:srgbClr val="FFFFFF"/>
                </a:solidFill>
                <a:latin typeface="SF Pro Text"/>
              </a:rPr>
              <a:t>Quantile intervals under-covered (60%)   →   </a:t>
            </a:r>
            <a:r>
              <a:rPr sz="1500">
                <a:solidFill>
                  <a:srgbClr val="30D158"/>
                </a:solidFill>
                <a:latin typeface="SF Pro Text"/>
              </a:rPr>
              <a:t>Conformalized Quantile Regression → ~80%.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FF9F0A"/>
                </a:solidFill>
              </a:rPr>
              <a:t>● </a:t>
            </a:r>
            <a:r>
              <a:rPr sz="1500" b="1">
                <a:solidFill>
                  <a:srgbClr val="FFFFFF"/>
                </a:solidFill>
                <a:latin typeface="SF Pro Text"/>
              </a:rPr>
              <a:t>eBay/Backmarket returned HTTP 403   →   </a:t>
            </a:r>
            <a:r>
              <a:rPr sz="1500">
                <a:solidFill>
                  <a:srgbClr val="30D158"/>
                </a:solidFill>
                <a:latin typeface="SF Pro Text"/>
              </a:rPr>
              <a:t>curl_cffi TLS (JA3) impersonation + cookie-warming.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FF9F0A"/>
                </a:solidFill>
              </a:rPr>
              <a:t>● </a:t>
            </a:r>
            <a:r>
              <a:rPr sz="1500" b="1">
                <a:solidFill>
                  <a:srgbClr val="FFFFFF"/>
                </a:solidFill>
                <a:latin typeface="SF Pro Text"/>
              </a:rPr>
              <a:t>eBay's sold search is capped   →   </a:t>
            </a:r>
            <a:r>
              <a:rPr sz="1500">
                <a:solidFill>
                  <a:srgbClr val="30D158"/>
                </a:solidFill>
                <a:latin typeface="SF Pro Text"/>
              </a:rPr>
              <a:t>diagnosed; scaled via narrow model×storage queries.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FF9F0A"/>
                </a:solidFill>
              </a:rPr>
              <a:t>● </a:t>
            </a:r>
            <a:r>
              <a:rPr sz="1500" b="1">
                <a:solidFill>
                  <a:srgbClr val="FFFFFF"/>
                </a:solidFill>
                <a:latin typeface="SF Pro Text"/>
              </a:rPr>
              <a:t>Merging US + ES data dropped R² 0.74→0.61   →   </a:t>
            </a:r>
            <a:r>
              <a:rPr sz="1500">
                <a:solidFill>
                  <a:srgbClr val="30D158"/>
                </a:solidFill>
                <a:latin typeface="SF Pro Text"/>
              </a:rPr>
              <a:t>added market &amp; source features; reweighted to the ES market.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FF9F0A"/>
                </a:solidFill>
              </a:rPr>
              <a:t>● </a:t>
            </a:r>
            <a:r>
              <a:rPr sz="1500" b="1">
                <a:solidFill>
                  <a:srgbClr val="FFFFFF"/>
                </a:solidFill>
                <a:latin typeface="SF Pro Text"/>
              </a:rPr>
              <a:t>SHAP crashed on XGBoost 2.x   →   </a:t>
            </a:r>
            <a:r>
              <a:rPr sz="1500">
                <a:solidFill>
                  <a:srgbClr val="30D158"/>
                </a:solidFill>
                <a:latin typeface="SF Pro Text"/>
              </a:rPr>
              <a:t>used XGBoost's native tree-SHAP (pred_contribs).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FF9F0A"/>
                </a:solidFill>
              </a:rPr>
              <a:t>● </a:t>
            </a:r>
            <a:r>
              <a:rPr sz="1500" b="1">
                <a:solidFill>
                  <a:srgbClr val="FFFFFF"/>
                </a:solidFill>
                <a:latin typeface="SF Pro Text"/>
              </a:rPr>
              <a:t>Accessories/parts polluted the data   →   </a:t>
            </a:r>
            <a:r>
              <a:rPr sz="1500">
                <a:solidFill>
                  <a:srgbClr val="30D158"/>
                </a:solidFill>
                <a:latin typeface="SF Pro Text"/>
              </a:rPr>
              <a:t>title junk filter + damaged-device risk flag.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84FF"/>
                </a:solidFill>
                <a:latin typeface="SF Pro Text"/>
              </a:rPr>
              <a:t>WHAT WE USED FROM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Concepts →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108960" cy="749808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2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F Pro Display"/>
              </a:rPr>
              <a:t>S1 OOP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abstract classes · __slots__ · exceptions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1783080"/>
            <a:ext cx="3108960" cy="749808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856232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F Pro Display"/>
              </a:rPr>
              <a:t>S2 Performance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parquet · vectorized · timeit (5.9× CSV)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24328"/>
            <a:ext cx="3108960" cy="749808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F Pro Display"/>
              </a:rPr>
              <a:t>S3 Visualization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7 figure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2624328"/>
            <a:ext cx="3108960" cy="749808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6974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F Pro Display"/>
              </a:rPr>
              <a:t>S4 Parallel &amp; Exceptions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retry/backoff · custom errors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65576"/>
            <a:ext cx="3108960" cy="749808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3872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F Pro Display"/>
              </a:rPr>
              <a:t>S5 Web Scraping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JSON API · sold HTML · TLS impersonation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3465576"/>
            <a:ext cx="3108960" cy="749808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353872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F Pro Display"/>
              </a:rPr>
              <a:t>S6 Time Series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out-of-time split · TimeSeriesSplit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06824"/>
            <a:ext cx="3108960" cy="749808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79976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F Pro Display"/>
              </a:rPr>
              <a:t>S7 Supervised ML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AEAEB2"/>
                </a:solidFill>
                <a:latin typeface="SF Pro Text"/>
              </a:rPr>
              <a:t>Ridge·XGBoost·LightGBM · CQR · SHAP</a:t>
            </a:r>
          </a:p>
        </p:txBody>
      </p:sp>
      <p:pic>
        <p:nvPicPr>
          <p:cNvPr id="19" name="Picture 18" descr="slide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83080"/>
            <a:ext cx="4572000" cy="28196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40880" y="5943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EAEB2"/>
                </a:solidFill>
                <a:latin typeface="SF Mono"/>
              </a:rPr>
              <a:t>36 tests · 4 notebooks · modular package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2121A"/>
              </a:gs>
              <a:gs pos="55000">
                <a:srgbClr val="0B0B0F"/>
              </a:gs>
              <a:gs pos="100000">
                <a:srgbClr val="16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38247" y="-914400"/>
            <a:ext cx="7315200" cy="7315200"/>
          </a:xfrm>
          <a:prstGeom prst="ellipse">
            <a:avLst/>
          </a:prstGeom>
          <a:solidFill>
            <a:srgbClr val="0A84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84FF"/>
                </a:solidFill>
                <a:latin typeface="SF Pro Text"/>
              </a:rPr>
              <a:t>06 · NEXT STEPS 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F Pro Display"/>
              </a:rPr>
              <a:t>Where this goes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310896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A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b="1" sz="1550">
                <a:solidFill>
                  <a:srgbClr val="0A84FF"/>
                </a:solidFill>
                <a:latin typeface="SF Pro Text"/>
              </a:rPr>
              <a:t>Counterfeit detection  </a:t>
            </a:r>
            <a:r>
              <a:rPr sz="1550">
                <a:solidFill>
                  <a:srgbClr val="FFFFFF"/>
                </a:solidFill>
                <a:latin typeface="SF Pro Text"/>
              </a:rPr>
              <a:t>a CNN on listing photos to flag probable fakes (S7 deep learning).</a:t>
            </a:r>
          </a:p>
          <a:p>
            <a:pPr>
              <a:spcAft>
                <a:spcPts val="1300"/>
              </a:spcAft>
            </a:pPr>
            <a:r>
              <a:rPr b="1" sz="1550">
                <a:solidFill>
                  <a:srgbClr val="0A84FF"/>
                </a:solidFill>
                <a:latin typeface="SF Pro Text"/>
              </a:rPr>
              <a:t>Time-to-sell  </a:t>
            </a:r>
            <a:r>
              <a:rPr sz="1550">
                <a:solidFill>
                  <a:srgbClr val="FFFFFF"/>
                </a:solidFill>
                <a:latin typeface="SF Pro Text"/>
              </a:rPr>
              <a:t>predict liquidity (how fast a deal sells) as a 4th score dimension.</a:t>
            </a:r>
          </a:p>
          <a:p>
            <a:pPr>
              <a:spcAft>
                <a:spcPts val="1300"/>
              </a:spcAft>
            </a:pPr>
            <a:r>
              <a:rPr b="1" sz="1550">
                <a:solidFill>
                  <a:srgbClr val="0A84FF"/>
                </a:solidFill>
                <a:latin typeface="SF Pro Text"/>
              </a:rPr>
              <a:t>True panel data  </a:t>
            </a:r>
            <a:r>
              <a:rPr sz="1550">
                <a:solidFill>
                  <a:srgbClr val="FFFFFF"/>
                </a:solidFill>
                <a:latin typeface="SF Pro Text"/>
              </a:rPr>
              <a:t>scheduled daily scrape to detect actual sales, price drops, time-on-market.</a:t>
            </a:r>
          </a:p>
          <a:p>
            <a:pPr>
              <a:spcAft>
                <a:spcPts val="1300"/>
              </a:spcAft>
            </a:pPr>
            <a:r>
              <a:rPr b="1" sz="1550">
                <a:solidFill>
                  <a:srgbClr val="0A84FF"/>
                </a:solidFill>
                <a:latin typeface="SF Pro Text"/>
              </a:rPr>
              <a:t>Productionize  </a:t>
            </a:r>
            <a:r>
              <a:rPr sz="1550">
                <a:solidFill>
                  <a:srgbClr val="FFFFFF"/>
                </a:solidFill>
                <a:latin typeface="SF Pro Text"/>
              </a:rPr>
              <a:t>FastAPI serve mode, CI on the test suite, GA hyperparameter search vs grid.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F Pro Display"/>
              </a:rPr>
              <a:t>Live data → fair value → a confident buy/skip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EAEB2"/>
                </a:solidFill>
                <a:latin typeface="SF Pro Text"/>
              </a:rPr>
              <a:t>Academic project · the investment score is not financial advice · do your own due diligence.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