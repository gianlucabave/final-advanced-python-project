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a machine-learning system that finds underpriced second-hand iPhones on live data. ESADE Advanced Python final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a price brain for second-hand iPhones: predict fair value, then turn it into a clear buy/hold/skip call with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 scans a live market and returns ranked deals with a fair-value estimate, a margin, a confidence band and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make this genuinely hard: no sold-price labels, messy Spanish free text, anti-bot walls, and the need for calibrated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13,745 real listings across four marketplaces. Wallapop is the live deployment market; eBay sold gives true completed-sale prices; the rest add temporal and cross-market depth. All normalized to 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 from scrapers to report. The key idea: one FeaturePipeline fitted once and reloaded at inference, so train and serve see identical features · zero skew.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messy Spanish title becomes 105 features. Regex and fuzzy matching pull structured specs; TF-IDF captures wording; engineered and market features round it out. 97% model-ID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Out-of-time split to avoid leakage. LightGBM wins at R-squared 0.642 and MAE 72 euros, with 80% prediction intervals from conformalized quantile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features the model leans on. Model identity and release year dominate gain importance, with condition adding signal — exactly what you'd expect from resale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investment score blends margin, confidence and risk into one number that maps to a four-tier decision. Risk heuristics catch scams and bad listings before you message a seller.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 benefit. Versus manual eyeballing it's objective, exhaustive and fast · about 1,670 listings per second. Versus a naive baseline, boosting plus calibrated intervals turn a guess into a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real problems and the fixes · from under-covered quantile intervals to 403 bot walls, capped search, cross-market R-squared drops, a SHAP crash, and polluted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course session shows up in the code: OOP, performance, visualization, parallelism and exceptions, web scraping, time series, and supervised ML · backed by 36 tests and 4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next: counterfeit detection from photos, time-to-sell prediction, true panel data from daily scrapes, and productionizing with FastAPI and CI. Close on the one-liner; note the disclaimer.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15728"/>
            <a:ext cx="240481" cy="285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35844" y="2419697"/>
            <a:ext cx="7792299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PYTHON · ESADE · FINAL PROJECT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3000" y="3025304"/>
            <a:ext cx="12552058" cy="1139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850" b="1" spc="-31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Deal-Finder</a:t>
            </a:r>
            <a:endParaRPr lang="en-US" sz="8850" dirty="0"/>
          </a:p>
        </p:txBody>
      </p:sp>
      <p:sp>
        <p:nvSpPr>
          <p:cNvPr id="5" name="Text 2"/>
          <p:cNvSpPr/>
          <p:nvPr/>
        </p:nvSpPr>
        <p:spPr>
          <a:xfrm>
            <a:off x="1143000" y="4488656"/>
            <a:ext cx="9025890" cy="1622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that predicts an iPhone's fair value and spots underpriced listings, on live data, in seconds.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1143000" y="6587071"/>
            <a:ext cx="1659248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9537" y="6699783"/>
            <a:ext cx="1262373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35573" y="6587071"/>
            <a:ext cx="1929929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72110" y="6699783"/>
            <a:ext cx="1533054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998826" y="6587071"/>
            <a:ext cx="1421495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5364" y="6699783"/>
            <a:ext cx="1024620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53646" y="6587071"/>
            <a:ext cx="2430301" cy="5031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90184" y="6699783"/>
            <a:ext cx="2033426" cy="315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13,745 real listings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7595815"/>
            <a:ext cx="726021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1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983321" y="7528346"/>
            <a:ext cx="9929409" cy="380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Gianluca Bavelloni · Lorenzo Giovanni Costa · David Puchala · Aumkar Prasad Wagle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411212" y="1304913"/>
            <a:ext cx="3733788" cy="7677113"/>
          </a:xfrm>
          <a:prstGeom prst="roundRect">
            <a:avLst>
              <a:gd name="adj" fmla="val 15816"/>
            </a:avLst>
          </a:prstGeom>
          <a:gradFill rotWithShape="1">
            <a:gsLst>
              <a:gs pos="0">
                <a:srgbClr val="48484A">
                  <a:alpha val="100000"/>
                </a:srgbClr>
              </a:gs>
              <a:gs pos="55000">
                <a:srgbClr val="1D1D1F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952500" dist="476250" dir="54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3534988" y="1428688"/>
            <a:ext cx="3486237" cy="7429562"/>
          </a:xfrm>
          <a:prstGeom prst="roundRect">
            <a:avLst>
              <a:gd name="adj" fmla="val 13661"/>
            </a:avLst>
          </a:prstGeom>
          <a:solidFill>
            <a:srgbClr val="F5F5F7"/>
          </a:solidFill>
          <a:ln/>
        </p:spPr>
      </p:sp>
      <p:sp>
        <p:nvSpPr>
          <p:cNvPr id="18" name="Shape 15"/>
          <p:cNvSpPr/>
          <p:nvPr/>
        </p:nvSpPr>
        <p:spPr>
          <a:xfrm>
            <a:off x="14716125" y="1571563"/>
            <a:ext cx="1123900" cy="31427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3839775" y="1619188"/>
            <a:ext cx="428427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16525937" y="1666441"/>
            <a:ext cx="190500" cy="123775"/>
          </a:xfrm>
          <a:prstGeom prst="roundRect">
            <a:avLst>
              <a:gd name="adj" fmla="val 30782"/>
            </a:avLst>
          </a:prstGeom>
          <a:ln w="11906">
            <a:solidFill>
              <a:srgbClr val="1D1D1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552106" y="1692610"/>
            <a:ext cx="104738" cy="71438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/>
        </p:spPr>
      </p:sp>
      <p:sp>
        <p:nvSpPr>
          <p:cNvPr id="22" name="Text 19"/>
          <p:cNvSpPr/>
          <p:nvPr/>
        </p:nvSpPr>
        <p:spPr>
          <a:xfrm>
            <a:off x="13839775" y="2161294"/>
            <a:ext cx="1794477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Deal-Finder</a:t>
            </a:r>
            <a:endParaRPr lang="en-US" sz="2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6508016" y="2223988"/>
            <a:ext cx="208421" cy="24761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3839775" y="2674813"/>
            <a:ext cx="85700" cy="857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25" name="Text 21"/>
          <p:cNvSpPr/>
          <p:nvPr/>
        </p:nvSpPr>
        <p:spPr>
          <a:xfrm>
            <a:off x="14011175" y="2610507"/>
            <a:ext cx="2341748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strong buys near Madrid</a:t>
            </a:r>
            <a:endParaRPr lang="en-US" sz="1425" dirty="0"/>
          </a:p>
        </p:txBody>
      </p:sp>
      <p:sp>
        <p:nvSpPr>
          <p:cNvPr id="26" name="Shape 22"/>
          <p:cNvSpPr/>
          <p:nvPr/>
        </p:nvSpPr>
        <p:spPr>
          <a:xfrm>
            <a:off x="13839775" y="3015320"/>
            <a:ext cx="1429370" cy="3745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000112" y="3099457"/>
            <a:ext cx="1184895" cy="244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15364395" y="3015320"/>
            <a:ext cx="879574" cy="3745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937">
            <a:solidFill>
              <a:srgbClr val="D2D2D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5524732" y="3099457"/>
            <a:ext cx="635099" cy="244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Madrid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13763562" y="3599408"/>
            <a:ext cx="3029086" cy="2954858"/>
          </a:xfrm>
          <a:prstGeom prst="roundRect">
            <a:avLst>
              <a:gd name="adj" fmla="val 8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14300" dir="5400000">
              <a:srgbClr val="000000">
                <a:alpha val="7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14030213" y="3866058"/>
            <a:ext cx="1607369" cy="5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117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€299</a:t>
            </a:r>
            <a:endParaRPr lang="en-US" sz="3900" dirty="0"/>
          </a:p>
        </p:txBody>
      </p:sp>
      <p:sp>
        <p:nvSpPr>
          <p:cNvPr id="32" name="Text 28"/>
          <p:cNvSpPr/>
          <p:nvPr/>
        </p:nvSpPr>
        <p:spPr>
          <a:xfrm>
            <a:off x="14030213" y="4437497"/>
            <a:ext cx="15374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Garantía</a:t>
            </a:r>
            <a:endParaRPr lang="en-US" sz="1425" dirty="0"/>
          </a:p>
        </p:txBody>
      </p:sp>
      <p:sp>
        <p:nvSpPr>
          <p:cNvPr id="33" name="Shape 29"/>
          <p:cNvSpPr/>
          <p:nvPr/>
        </p:nvSpPr>
        <p:spPr>
          <a:xfrm>
            <a:off x="15491457" y="3866058"/>
            <a:ext cx="1034542" cy="51742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/>
        </p:spPr>
      </p:sp>
      <p:sp>
        <p:nvSpPr>
          <p:cNvPr id="34" name="Text 30"/>
          <p:cNvSpPr/>
          <p:nvPr/>
        </p:nvSpPr>
        <p:spPr>
          <a:xfrm>
            <a:off x="15634332" y="3942258"/>
            <a:ext cx="824992" cy="40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14030213" y="5075659"/>
            <a:ext cx="2495785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6" name="Text 32"/>
          <p:cNvSpPr/>
          <p:nvPr/>
        </p:nvSpPr>
        <p:spPr>
          <a:xfrm>
            <a:off x="14030213" y="5294684"/>
            <a:ext cx="853703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425" dirty="0"/>
          </a:p>
        </p:txBody>
      </p:sp>
      <p:sp>
        <p:nvSpPr>
          <p:cNvPr id="37" name="Text 33"/>
          <p:cNvSpPr/>
          <p:nvPr/>
        </p:nvSpPr>
        <p:spPr>
          <a:xfrm>
            <a:off x="16081127" y="5294684"/>
            <a:ext cx="521072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€409</a:t>
            </a:r>
            <a:endParaRPr lang="en-US" sz="1575" dirty="0"/>
          </a:p>
        </p:txBody>
      </p:sp>
      <p:sp>
        <p:nvSpPr>
          <p:cNvPr id="38" name="Text 34"/>
          <p:cNvSpPr/>
          <p:nvPr/>
        </p:nvSpPr>
        <p:spPr>
          <a:xfrm>
            <a:off x="14030213" y="5670103"/>
            <a:ext cx="150620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margin</a:t>
            </a:r>
            <a:endParaRPr lang="en-US" sz="1425" dirty="0"/>
          </a:p>
        </p:txBody>
      </p:sp>
      <p:sp>
        <p:nvSpPr>
          <p:cNvPr id="39" name="Text 35"/>
          <p:cNvSpPr/>
          <p:nvPr/>
        </p:nvSpPr>
        <p:spPr>
          <a:xfrm>
            <a:off x="15983520" y="5670103"/>
            <a:ext cx="61867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</a:t>
            </a:r>
            <a:endParaRPr lang="en-US" sz="1575" dirty="0"/>
          </a:p>
        </p:txBody>
      </p:sp>
      <p:sp>
        <p:nvSpPr>
          <p:cNvPr id="40" name="Text 36"/>
          <p:cNvSpPr/>
          <p:nvPr/>
        </p:nvSpPr>
        <p:spPr>
          <a:xfrm>
            <a:off x="14030213" y="6045522"/>
            <a:ext cx="1526741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425" dirty="0"/>
          </a:p>
        </p:txBody>
      </p:sp>
      <p:sp>
        <p:nvSpPr>
          <p:cNvPr id="41" name="Text 37"/>
          <p:cNvSpPr/>
          <p:nvPr/>
        </p:nvSpPr>
        <p:spPr>
          <a:xfrm>
            <a:off x="16136689" y="6045522"/>
            <a:ext cx="465510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1575" dirty="0"/>
          </a:p>
        </p:txBody>
      </p:sp>
      <p:sp>
        <p:nvSpPr>
          <p:cNvPr id="42" name="Shape 38"/>
          <p:cNvSpPr/>
          <p:nvPr/>
        </p:nvSpPr>
        <p:spPr>
          <a:xfrm>
            <a:off x="13763562" y="6687592"/>
            <a:ext cx="3029086" cy="1002419"/>
          </a:xfrm>
          <a:prstGeom prst="roundRect">
            <a:avLst>
              <a:gd name="adj" fmla="val 209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7650" dist="95250" dir="5400000">
              <a:srgbClr val="000000">
                <a:alpha val="5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14030213" y="6897129"/>
            <a:ext cx="1690793" cy="3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51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2550" dirty="0"/>
          </a:p>
        </p:txBody>
      </p:sp>
      <p:sp>
        <p:nvSpPr>
          <p:cNvPr id="44" name="Text 40"/>
          <p:cNvSpPr/>
          <p:nvPr/>
        </p:nvSpPr>
        <p:spPr>
          <a:xfrm>
            <a:off x="14030213" y="7278067"/>
            <a:ext cx="1690793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Pro Max · Titanio</a:t>
            </a:r>
            <a:endParaRPr lang="en-US" sz="1350" dirty="0"/>
          </a:p>
        </p:txBody>
      </p:sp>
      <p:sp>
        <p:nvSpPr>
          <p:cNvPr id="45" name="Shape 41"/>
          <p:cNvSpPr/>
          <p:nvPr/>
        </p:nvSpPr>
        <p:spPr>
          <a:xfrm>
            <a:off x="15957538" y="7034795"/>
            <a:ext cx="568461" cy="30795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46" name="Text 42"/>
          <p:cNvSpPr/>
          <p:nvPr/>
        </p:nvSpPr>
        <p:spPr>
          <a:xfrm>
            <a:off x="16090888" y="7101470"/>
            <a:ext cx="377961" cy="2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477562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PROJECT EXPLANATION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84911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26199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a price brain for second-hand iPhones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745035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47900" y="2706935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“Of all iPhones for sale right now, which are the best deals to buy and resell?”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849898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47900" y="3811798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regression that predicts fair market value, plus calibrated uncertainty.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" y="4954761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47900" y="4916661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investment score → a clear BUY / HOLD / SKIP decision, with reasons.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6059624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47900" y="6021524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 is Spain's largest second-hand marketplace; prices are noisy and inconsistent.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7164487"/>
            <a:ext cx="1314450" cy="8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47900" y="7126387"/>
            <a:ext cx="7186183" cy="8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arbitrage and smart buying · rank live listings by expected profit, flag scams.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386776" y="2706935"/>
            <a:ext cx="6758223" cy="6665701"/>
          </a:xfrm>
          <a:prstGeom prst="roundRect">
            <a:avLst>
              <a:gd name="adj" fmla="val 4001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882064" y="3860788"/>
            <a:ext cx="634441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9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82064" y="4547381"/>
            <a:ext cx="5940677" cy="1107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7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€120 profit on a €420 phone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0882064" y="5750408"/>
            <a:ext cx="5940677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28% margin · if you can tell a deal from a dud before it sells.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882064" y="6804483"/>
            <a:ext cx="5767648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2064" y="7233047"/>
            <a:ext cx="6344413" cy="572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900" b="1" spc="-78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vanish in hours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10882064" y="7901223"/>
            <a:ext cx="634441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objectivity beat manual eyeballing.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→ ranked deals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16002000" cy="881063"/>
          </a:xfrm>
          <a:prstGeom prst="roundRect">
            <a:avLst>
              <a:gd name="adj" fmla="val 19459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/>
          <p:nvPr/>
        </p:nvSpPr>
        <p:spPr>
          <a:xfrm>
            <a:off x="1504900" y="2857810"/>
            <a:ext cx="2368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4C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36911" y="2857810"/>
            <a:ext cx="1320049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src.cli scan --model "iPhone 13 Pro" --city madrid --max-price 700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948410"/>
            <a:ext cx="7772424" cy="5424227"/>
          </a:xfrm>
          <a:prstGeom prst="roundRect">
            <a:avLst>
              <a:gd name="adj" fmla="val 49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1581113" y="4386523"/>
            <a:ext cx="4041614" cy="7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€299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581113" y="5186598"/>
            <a:ext cx="4041614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Tienda / Garantía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601333" y="4386523"/>
            <a:ext cx="1875979" cy="479351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6810883" y="4491298"/>
            <a:ext cx="1533079" cy="30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581113" y="5823148"/>
            <a:ext cx="6896199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113" y="6175499"/>
            <a:ext cx="109920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642571" y="6175499"/>
            <a:ext cx="201821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€409 </a:t>
            </a:r>
            <a:pPr algn="l" indent="0" marL="0">
              <a:buNone/>
            </a:pPr>
            <a:r>
              <a:rPr lang="en-US" sz="20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[300–403]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581113" y="6679530"/>
            <a:ext cx="231657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· confidence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240859" y="6679530"/>
            <a:ext cx="246009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+31.0%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MEDIUM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581113" y="7183562"/>
            <a:ext cx="2008801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976815" y="7183562"/>
            <a:ext cx="57669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372575" y="3948410"/>
            <a:ext cx="7772424" cy="5424227"/>
          </a:xfrm>
          <a:prstGeom prst="roundRect">
            <a:avLst>
              <a:gd name="adj" fmla="val 4917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9810687" y="4386523"/>
            <a:ext cx="4359758" cy="7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810687" y="5186598"/>
            <a:ext cx="4359758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Max 256 GB · Titanio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5825081" y="4386523"/>
            <a:ext cx="881807" cy="479351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16034631" y="4491298"/>
            <a:ext cx="538907" cy="30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810687" y="5823148"/>
            <a:ext cx="6896199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5" name="Text 23"/>
          <p:cNvSpPr/>
          <p:nvPr/>
        </p:nvSpPr>
        <p:spPr>
          <a:xfrm>
            <a:off x="9810687" y="6175499"/>
            <a:ext cx="109920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4872146" y="6175499"/>
            <a:ext cx="201821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€569 </a:t>
            </a:r>
            <a:pPr algn="l" indent="0" marL="0">
              <a:buNone/>
            </a:pPr>
            <a:r>
              <a:rPr lang="en-US" sz="20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[347–596]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810687" y="6679530"/>
            <a:ext cx="231657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· confidence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932359" y="6679530"/>
            <a:ext cx="195198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+82.2%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LOW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810687" y="7183562"/>
            <a:ext cx="2008801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16206390" y="7183562"/>
            <a:ext cx="57669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55423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CHALLENGE DEFINITION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54612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95900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genuinely hard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68860"/>
            <a:ext cx="7839087" cy="3189945"/>
          </a:xfrm>
          <a:prstGeom prst="roundRect">
            <a:avLst>
              <a:gd name="adj" fmla="val 836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600150" y="3541861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600150" y="4201418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 shows asking prices, never sold prices · so the model learns fair value from the crowd.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05912" y="2668860"/>
            <a:ext cx="7839087" cy="3189945"/>
          </a:xfrm>
          <a:prstGeom prst="roundRect">
            <a:avLst>
              <a:gd name="adj" fmla="val 8361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9763062" y="3541861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free text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63062" y="4201418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hide in Spanish prose: “batería 92%”, “como nuevo”, storage often omitted entirely.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143000" y="6182630"/>
            <a:ext cx="7839087" cy="3190007"/>
          </a:xfrm>
          <a:prstGeom prst="roundRect">
            <a:avLst>
              <a:gd name="adj" fmla="val 836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150" y="7055693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walls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600150" y="7715250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and Backmarket fingerprint the TLS handshake and return 403 to datacenter IPs.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305912" y="6182630"/>
            <a:ext cx="7839087" cy="3190007"/>
          </a:xfrm>
          <a:prstGeom prst="roundRect">
            <a:avLst>
              <a:gd name="adj" fmla="val 836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9763062" y="7055693"/>
            <a:ext cx="7617265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763062" y="7715250"/>
            <a:ext cx="7132530" cy="82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price isn't enough; a recommendation needs calibrated confidence to be trusted.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13,745 real listings across 4 marketplaces</a:t>
            </a:r>
            <a:endParaRPr lang="en-US" sz="5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76849"/>
            <a:ext cx="4191000" cy="419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1250" y="4219091"/>
            <a:ext cx="609575" cy="27781"/>
          </a:xfrm>
          <a:prstGeom prst="rect">
            <a:avLst/>
          </a:prstGeom>
          <a:solidFill>
            <a:srgbClr val="0071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100" b="1100"/>
          <a:stretch/>
        </p:blipFill>
        <p:spPr>
          <a:xfrm>
            <a:off x="6191250" y="3637297"/>
            <a:ext cx="609575" cy="581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29400" y="3637297"/>
            <a:ext cx="147660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Wallapop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6382379" y="3637297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8,262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029400" y="4048435"/>
            <a:ext cx="104190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live from its JSON backend · no API, no keys. 20 models × 6 Spanish cities. The deployment market.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6191250" y="4867548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6191250" y="5449342"/>
            <a:ext cx="609575" cy="27781"/>
          </a:xfrm>
          <a:prstGeom prst="rect">
            <a:avLst/>
          </a:prstGeom>
          <a:solidFill>
            <a:srgbClr val="5AA9F0"/>
          </a:solidFill>
          <a:ln/>
        </p:spPr>
      </p:sp>
      <p:sp>
        <p:nvSpPr>
          <p:cNvPr id="12" name="Shape 8"/>
          <p:cNvSpPr/>
          <p:nvPr/>
        </p:nvSpPr>
        <p:spPr>
          <a:xfrm>
            <a:off x="6191250" y="4867548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3" name="Shape 9"/>
          <p:cNvSpPr/>
          <p:nvPr/>
        </p:nvSpPr>
        <p:spPr>
          <a:xfrm>
            <a:off x="6191250" y="48675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4" name="Shape 10"/>
          <p:cNvSpPr/>
          <p:nvPr/>
        </p:nvSpPr>
        <p:spPr>
          <a:xfrm>
            <a:off x="6792888" y="48675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21" r="-21" t="0" b="0"/>
          <a:stretch/>
        </p:blipFill>
        <p:spPr>
          <a:xfrm>
            <a:off x="6313475" y="5089053"/>
            <a:ext cx="365125" cy="1467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29400" y="4867548"/>
            <a:ext cx="156446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sold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6636566" y="4867548"/>
            <a:ext cx="58463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957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029400" y="5278685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completed-sale prices with dates, via sold-listings HTML.</a:t>
            </a:r>
            <a:endParaRPr lang="en-US" sz="1875" dirty="0"/>
          </a:p>
        </p:txBody>
      </p:sp>
      <p:sp>
        <p:nvSpPr>
          <p:cNvPr id="19" name="Shape 14"/>
          <p:cNvSpPr/>
          <p:nvPr/>
        </p:nvSpPr>
        <p:spPr>
          <a:xfrm>
            <a:off x="6191250" y="5812048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191250" y="6393842"/>
            <a:ext cx="609575" cy="27781"/>
          </a:xfrm>
          <a:prstGeom prst="rect">
            <a:avLst/>
          </a:prstGeom>
          <a:solidFill>
            <a:srgbClr val="A3CDF5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1250" y="5812048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1250" y="58120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3" name="Shape 18"/>
          <p:cNvSpPr/>
          <p:nvPr/>
        </p:nvSpPr>
        <p:spPr>
          <a:xfrm>
            <a:off x="6792888" y="5812048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24" name="Text 19"/>
          <p:cNvSpPr/>
          <p:nvPr/>
        </p:nvSpPr>
        <p:spPr>
          <a:xfrm>
            <a:off x="6369844" y="5985867"/>
            <a:ext cx="328526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7029400" y="5812048"/>
            <a:ext cx="259475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e-commerce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6382379" y="5812048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2,361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7029400" y="6223186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resale records, sale-evidenced.</a:t>
            </a:r>
            <a:endParaRPr lang="en-US" sz="1875" dirty="0"/>
          </a:p>
        </p:txBody>
      </p:sp>
      <p:sp>
        <p:nvSpPr>
          <p:cNvPr id="28" name="Shape 23"/>
          <p:cNvSpPr/>
          <p:nvPr/>
        </p:nvSpPr>
        <p:spPr>
          <a:xfrm>
            <a:off x="6191250" y="6756549"/>
            <a:ext cx="609575" cy="609575"/>
          </a:xfrm>
          <a:prstGeom prst="roundRect">
            <a:avLst>
              <a:gd name="adj" fmla="val 25001"/>
            </a:avLst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6191250" y="7338343"/>
            <a:ext cx="609575" cy="27781"/>
          </a:xfrm>
          <a:prstGeom prst="rect">
            <a:avLst/>
          </a:prstGeom>
          <a:solidFill>
            <a:srgbClr val="C9C9CE"/>
          </a:solidFill>
          <a:ln/>
        </p:spPr>
      </p:sp>
      <p:sp>
        <p:nvSpPr>
          <p:cNvPr id="30" name="Shape 25"/>
          <p:cNvSpPr/>
          <p:nvPr/>
        </p:nvSpPr>
        <p:spPr>
          <a:xfrm>
            <a:off x="6191250" y="6756549"/>
            <a:ext cx="609575" cy="952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1" name="Shape 26"/>
          <p:cNvSpPr/>
          <p:nvPr/>
        </p:nvSpPr>
        <p:spPr>
          <a:xfrm>
            <a:off x="6191250" y="6756549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2" name="Shape 27"/>
          <p:cNvSpPr/>
          <p:nvPr/>
        </p:nvSpPr>
        <p:spPr>
          <a:xfrm>
            <a:off x="6792888" y="6756549"/>
            <a:ext cx="9525" cy="609575"/>
          </a:xfrm>
          <a:prstGeom prst="rect">
            <a:avLst/>
          </a:prstGeom>
          <a:solidFill>
            <a:srgbClr val="D2D2D7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l="-21" r="-21" t="0" b="0"/>
          <a:stretch/>
        </p:blipFill>
        <p:spPr>
          <a:xfrm>
            <a:off x="6313475" y="6978054"/>
            <a:ext cx="365125" cy="1467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29400" y="6756549"/>
            <a:ext cx="204959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archive</a:t>
            </a:r>
            <a:endParaRPr lang="en-US" sz="2400" dirty="0"/>
          </a:p>
        </p:txBody>
      </p:sp>
      <p:sp>
        <p:nvSpPr>
          <p:cNvPr id="35" name="Text 29"/>
          <p:cNvSpPr/>
          <p:nvPr/>
        </p:nvSpPr>
        <p:spPr>
          <a:xfrm>
            <a:off x="16382379" y="6756549"/>
            <a:ext cx="83882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2,165</a:t>
            </a:r>
            <a:endParaRPr lang="en-US" sz="2400" dirty="0"/>
          </a:p>
        </p:txBody>
      </p:sp>
      <p:sp>
        <p:nvSpPr>
          <p:cNvPr id="36" name="Text 30"/>
          <p:cNvSpPr/>
          <p:nvPr/>
        </p:nvSpPr>
        <p:spPr>
          <a:xfrm>
            <a:off x="7029400" y="7167686"/>
            <a:ext cx="111271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2023 US listings for temporal depth.</a:t>
            </a:r>
            <a:endParaRPr lang="en-US" sz="1875" dirty="0"/>
          </a:p>
        </p:txBody>
      </p:sp>
      <p:sp>
        <p:nvSpPr>
          <p:cNvPr id="37" name="Shape 31"/>
          <p:cNvSpPr/>
          <p:nvPr/>
        </p:nvSpPr>
        <p:spPr>
          <a:xfrm>
            <a:off x="6191250" y="7777200"/>
            <a:ext cx="10953750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38" name="Text 32"/>
          <p:cNvSpPr/>
          <p:nvPr/>
        </p:nvSpPr>
        <p:spPr>
          <a:xfrm>
            <a:off x="6191250" y="8013737"/>
            <a:ext cx="11282363" cy="331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·</a:t>
            </a:r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prices → EUR, stored in Parquet, quality-weighted at merge.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24618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TECHNICAL SOLUTION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174568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158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306444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52513" y="3475261"/>
            <a:ext cx="1759570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Wallapop · eBay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3283496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816883" y="2706935"/>
            <a:ext cx="2178658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3980324" y="3030761"/>
            <a:ext cx="18517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26396" y="3475261"/>
            <a:ext cx="1759632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· parquet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957441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6490828" y="2706935"/>
            <a:ext cx="2632521" cy="1560463"/>
          </a:xfrm>
          <a:prstGeom prst="roundRect">
            <a:avLst>
              <a:gd name="adj" fmla="val 13429"/>
            </a:avLst>
          </a:prstGeom>
          <a:solidFill>
            <a:srgbClr val="EAF3FD"/>
          </a:solidFill>
          <a:ln w="7937">
            <a:solidFill>
              <a:srgbClr val="BCDC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0308" y="3038698"/>
            <a:ext cx="23335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FeaturePipeline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640308" y="3483198"/>
            <a:ext cx="2333563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5B8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· encode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085250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618637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082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28150" y="3475261"/>
            <a:ext cx="1759570" cy="506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 · quantile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1759133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2292521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12455965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455965" y="3475261"/>
            <a:ext cx="1851707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× conf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4433017" y="2706935"/>
            <a:ext cx="571488" cy="159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D2D2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4966404" y="2706935"/>
            <a:ext cx="2178596" cy="1560463"/>
          </a:xfrm>
          <a:prstGeom prst="roundRect">
            <a:avLst>
              <a:gd name="adj" fmla="val 13429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15129848" y="3030761"/>
            <a:ext cx="185170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129848" y="3475261"/>
            <a:ext cx="1851707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· plots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1143000" y="4876973"/>
            <a:ext cx="27781" cy="1234095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30" name="Text 28"/>
          <p:cNvSpPr/>
          <p:nvPr/>
        </p:nvSpPr>
        <p:spPr>
          <a:xfrm>
            <a:off x="1456531" y="4876973"/>
            <a:ext cx="820478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FeaturePipeline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56531" y="5364324"/>
            <a:ext cx="7682660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 once, serialized, reloaded at inference → identical features at train &amp; serve. Zero training–serving skew.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372575" y="4876973"/>
            <a:ext cx="27781" cy="1234095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33" name="Text 31"/>
          <p:cNvSpPr/>
          <p:nvPr/>
        </p:nvSpPr>
        <p:spPr>
          <a:xfrm>
            <a:off x="9686106" y="4876973"/>
            <a:ext cx="8204783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OOP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86106" y="5364324"/>
            <a:ext cx="7682660" cy="784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BaseScraper / BaseModel,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__slots__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containers, custom exception hierarchy, typed config, structured logging.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Spanish prose to 105 features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7744271" cy="6800577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581113" y="3010173"/>
            <a:ext cx="7554850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listing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1581113" y="3409404"/>
            <a:ext cx="6868046" cy="1187400"/>
          </a:xfrm>
          <a:prstGeom prst="roundRect">
            <a:avLst>
              <a:gd name="adj" fmla="val 11230"/>
            </a:avLst>
          </a:prstGeom>
          <a:solidFill>
            <a:srgbClr val="FFFFFF"/>
          </a:solidFill>
          <a:ln w="7937">
            <a:solidFill>
              <a:srgbClr val="E8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17650" y="3645942"/>
            <a:ext cx="6601012" cy="7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iPhone 13 Pro 256GB Sierra Blue batería 92% como nuevo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37710" y="4825380"/>
            <a:ext cx="75548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parsed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81113" y="5842124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0" name="Text 8"/>
          <p:cNvSpPr/>
          <p:nvPr/>
        </p:nvSpPr>
        <p:spPr>
          <a:xfrm>
            <a:off x="1581113" y="5403205"/>
            <a:ext cx="150375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· year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054080" y="5403205"/>
            <a:ext cx="263458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· 2021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581113" y="6460380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113" y="6021462"/>
            <a:ext cx="91081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04869" y="6021462"/>
            <a:ext cx="92049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81113" y="7078638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6" name="Text 14"/>
          <p:cNvSpPr/>
          <p:nvPr/>
        </p:nvSpPr>
        <p:spPr>
          <a:xfrm>
            <a:off x="1581113" y="6639719"/>
            <a:ext cx="85134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26089" y="6639719"/>
            <a:ext cx="599269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581113" y="7696895"/>
            <a:ext cx="6868046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9" name="Text 17"/>
          <p:cNvSpPr/>
          <p:nvPr/>
        </p:nvSpPr>
        <p:spPr>
          <a:xfrm>
            <a:off x="1581113" y="7257976"/>
            <a:ext cx="76868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151439" y="7257976"/>
            <a:ext cx="1427491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Blue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81113" y="7876232"/>
            <a:ext cx="1103734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871828" y="7876232"/>
            <a:ext cx="173506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like-new · 4/5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54021" y="3077394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fuzzy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54021" y="3502794"/>
            <a:ext cx="781870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storage, battery, colour, condition from free text · 97% model-ID rate.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9554021" y="4508500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54021" y="4933900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 description tokens capture wording signal.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554021" y="5579628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54021" y="6005029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Days-since-posted, seller activity, photo count, city tier.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554021" y="6650757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/ source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554021" y="7076157"/>
            <a:ext cx="8350076" cy="3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features let one model serve multiple marketplaces.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554021" y="7721885"/>
            <a:ext cx="835007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554021" y="8147285"/>
            <a:ext cx="7818708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/ storage by model-family median; nothing dropped silently.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424618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TECHNICAL SOLUTION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174568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158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boosting → calibrated intervals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364073"/>
            <a:ext cx="464598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Out-of-time split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 future leakage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747618" y="2364073"/>
            <a:ext cx="679516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intervals </a:t>
            </a:r>
            <a:pPr algn="l" indent="0" marL="0"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Conformalized Quantile Regression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143000" y="3058604"/>
            <a:ext cx="7696212" cy="7275401"/>
          </a:xfrm>
          <a:prstGeom prst="roundRect">
            <a:avLst>
              <a:gd name="adj" fmla="val 3666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1600150" y="3496717"/>
            <a:ext cx="746010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R² by model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00150" y="3883236"/>
            <a:ext cx="7460103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shown inside each bar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2245940" y="5127129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0.580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600150" y="5590666"/>
            <a:ext cx="2006637" cy="3867113"/>
          </a:xfrm>
          <a:prstGeom prst="roundRect">
            <a:avLst>
              <a:gd name="adj" fmla="val 6645"/>
            </a:avLst>
          </a:prstGeom>
          <a:solidFill>
            <a:srgbClr val="C9D7E8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050" y="5590666"/>
            <a:ext cx="2082837" cy="3695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5B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€79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281349" y="9678417"/>
            <a:ext cx="720378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633578" y="5022329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0.594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3987787" y="5485866"/>
            <a:ext cx="2006637" cy="3971913"/>
          </a:xfrm>
          <a:prstGeom prst="roundRect">
            <a:avLst>
              <a:gd name="adj" fmla="val 6645"/>
            </a:avLst>
          </a:prstGeom>
          <a:solidFill>
            <a:srgbClr val="7FB0E8"/>
          </a:solidFill>
          <a:ln/>
        </p:spPr>
      </p:sp>
      <p:sp>
        <p:nvSpPr>
          <p:cNvPr id="17" name="Text 15"/>
          <p:cNvSpPr/>
          <p:nvPr/>
        </p:nvSpPr>
        <p:spPr>
          <a:xfrm>
            <a:off x="3949687" y="5485866"/>
            <a:ext cx="2082837" cy="380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€78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497028" y="9678417"/>
            <a:ext cx="1064233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021214" y="4669916"/>
            <a:ext cx="79119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0.642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375425" y="5133454"/>
            <a:ext cx="2006637" cy="4324325"/>
          </a:xfrm>
          <a:prstGeom prst="roundRect">
            <a:avLst>
              <a:gd name="adj" fmla="val 6645"/>
            </a:avLst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337325" y="5133454"/>
            <a:ext cx="2082837" cy="415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€72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809941" y="9678417"/>
            <a:ext cx="1213743" cy="331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448787" y="3058604"/>
            <a:ext cx="7696212" cy="7275401"/>
          </a:xfrm>
          <a:prstGeom prst="roundRect">
            <a:avLst>
              <a:gd name="adj" fmla="val 3666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9905937" y="3496717"/>
            <a:ext cx="746010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vs actual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905937" y="3883236"/>
            <a:ext cx="7460103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LightGBM, held-out test set</a:t>
            </a:r>
            <a:endParaRPr lang="en-US" sz="1725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5937" y="4320542"/>
            <a:ext cx="6781849" cy="565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INSIGHT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predicted price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86310"/>
            <a:ext cx="17602200" cy="434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by gain importance · model identity and release year carry the most weight.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0100" y="3562635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 Pro Max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819613" y="3584463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7" name="Shape 5"/>
          <p:cNvSpPr/>
          <p:nvPr/>
        </p:nvSpPr>
        <p:spPr>
          <a:xfrm>
            <a:off x="4819613" y="3584463"/>
            <a:ext cx="10601275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8" name="Text 6"/>
          <p:cNvSpPr/>
          <p:nvPr/>
        </p:nvSpPr>
        <p:spPr>
          <a:xfrm>
            <a:off x="16268724" y="3574541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00100" y="4053954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year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819613" y="4075782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1" name="Shape 9"/>
          <p:cNvSpPr/>
          <p:nvPr/>
        </p:nvSpPr>
        <p:spPr>
          <a:xfrm>
            <a:off x="4819613" y="4075782"/>
            <a:ext cx="8458150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6268724" y="4065860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0100" y="4545273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14 Pro Max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819613" y="4567101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9613" y="4567101"/>
            <a:ext cx="6934150" cy="2857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6268724" y="4557179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5036591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819613" y="5058420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19613" y="5058420"/>
            <a:ext cx="3438488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0" name="Text 18"/>
          <p:cNvSpPr/>
          <p:nvPr/>
        </p:nvSpPr>
        <p:spPr>
          <a:xfrm>
            <a:off x="16268724" y="5048498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0.061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00100" y="5527910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12 Pro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4819613" y="5549739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19613" y="5549739"/>
            <a:ext cx="2200238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4" name="Text 22"/>
          <p:cNvSpPr/>
          <p:nvPr/>
        </p:nvSpPr>
        <p:spPr>
          <a:xfrm>
            <a:off x="16268724" y="5539817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0.039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00100" y="6019229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11 Pro Max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819613" y="6041057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9613" y="6041057"/>
            <a:ext cx="2143125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28" name="Text 26"/>
          <p:cNvSpPr/>
          <p:nvPr/>
        </p:nvSpPr>
        <p:spPr>
          <a:xfrm>
            <a:off x="16268724" y="6031135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0.038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00100" y="6510548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819613" y="6532376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9613" y="6532376"/>
            <a:ext cx="1695400" cy="285750"/>
          </a:xfrm>
          <a:prstGeom prst="roundRect">
            <a:avLst>
              <a:gd name="adj" fmla="val 50000"/>
            </a:avLst>
          </a:prstGeom>
          <a:solidFill>
            <a:srgbClr val="5AA9F0"/>
          </a:solidFill>
          <a:ln/>
        </p:spPr>
      </p:sp>
      <p:sp>
        <p:nvSpPr>
          <p:cNvPr id="32" name="Text 30"/>
          <p:cNvSpPr/>
          <p:nvPr/>
        </p:nvSpPr>
        <p:spPr>
          <a:xfrm>
            <a:off x="16268724" y="6522454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00100" y="7001867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13 Pro Max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4819613" y="7023695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819613" y="7023695"/>
            <a:ext cx="733413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36" name="Text 34"/>
          <p:cNvSpPr/>
          <p:nvPr/>
        </p:nvSpPr>
        <p:spPr>
          <a:xfrm>
            <a:off x="16268724" y="7013773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0.013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800100" y="7493186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label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4819613" y="7515014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39" name="Shape 37"/>
          <p:cNvSpPr/>
          <p:nvPr/>
        </p:nvSpPr>
        <p:spPr>
          <a:xfrm>
            <a:off x="4819613" y="7515014"/>
            <a:ext cx="676238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40" name="Text 38"/>
          <p:cNvSpPr/>
          <p:nvPr/>
        </p:nvSpPr>
        <p:spPr>
          <a:xfrm>
            <a:off x="16268724" y="7505092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0.012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800100" y="7984504"/>
            <a:ext cx="3771900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15 Plus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4819613" y="8006333"/>
            <a:ext cx="11277699" cy="28575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/>
        </p:spPr>
      </p:sp>
      <p:sp>
        <p:nvSpPr>
          <p:cNvPr id="43" name="Shape 41"/>
          <p:cNvSpPr/>
          <p:nvPr/>
        </p:nvSpPr>
        <p:spPr>
          <a:xfrm>
            <a:off x="4819613" y="8006333"/>
            <a:ext cx="619125" cy="285750"/>
          </a:xfrm>
          <a:prstGeom prst="roundRect">
            <a:avLst>
              <a:gd name="adj" fmla="val 50000"/>
            </a:avLst>
          </a:prstGeom>
          <a:solidFill>
            <a:srgbClr val="A3CDF5"/>
          </a:solidFill>
          <a:ln/>
        </p:spPr>
      </p:sp>
      <p:sp>
        <p:nvSpPr>
          <p:cNvPr id="44" name="Text 42"/>
          <p:cNvSpPr/>
          <p:nvPr/>
        </p:nvSpPr>
        <p:spPr>
          <a:xfrm>
            <a:off x="16268724" y="7996411"/>
            <a:ext cx="8762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0.011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-457200" y="9098793"/>
            <a:ext cx="1760220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importance · LightGBM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ENGINE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score → decision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572060"/>
            <a:ext cx="8226350" cy="1928626"/>
          </a:xfrm>
          <a:prstGeom prst="roundRect">
            <a:avLst>
              <a:gd name="adj" fmla="val 8890"/>
            </a:avLst>
          </a:prstGeom>
          <a:solidFill>
            <a:srgbClr val="1D1D1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14960"/>
            <a:ext cx="7711141" cy="1280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7FB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investment_score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5F5F7"/>
                </a:solidFill>
                <a:highlight>
                  <a:srgbClr val="1D1D1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0.5·σ(margin·5) + 0.3·confidence + 0.2·(1−risk)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1143000" y="4881686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1447788" y="5110261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34C759"/>
          </a:solidFill>
          <a:ln/>
        </p:spPr>
      </p:sp>
      <p:sp>
        <p:nvSpPr>
          <p:cNvPr id="8" name="Text 6"/>
          <p:cNvSpPr/>
          <p:nvPr/>
        </p:nvSpPr>
        <p:spPr>
          <a:xfrm>
            <a:off x="1809688" y="5130850"/>
            <a:ext cx="6593458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032316" y="5162599"/>
            <a:ext cx="1108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0.75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5948350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788" y="6176925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7ED79B"/>
          </a:solidFill>
          <a:ln/>
        </p:spPr>
      </p:sp>
      <p:sp>
        <p:nvSpPr>
          <p:cNvPr id="12" name="Text 10"/>
          <p:cNvSpPr/>
          <p:nvPr/>
        </p:nvSpPr>
        <p:spPr>
          <a:xfrm>
            <a:off x="1809688" y="6197513"/>
            <a:ext cx="5647277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172151" y="6229263"/>
            <a:ext cx="208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 – 0.75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43000" y="7015014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788" y="7243589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C9C9CE"/>
          </a:solidFill>
          <a:ln/>
        </p:spPr>
      </p:sp>
      <p:sp>
        <p:nvSpPr>
          <p:cNvPr id="16" name="Text 14"/>
          <p:cNvSpPr/>
          <p:nvPr/>
        </p:nvSpPr>
        <p:spPr>
          <a:xfrm>
            <a:off x="1809688" y="7264176"/>
            <a:ext cx="5647277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172151" y="7295927"/>
            <a:ext cx="2081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 – 0.55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43000" y="8081677"/>
            <a:ext cx="8226350" cy="895263"/>
          </a:xfrm>
          <a:prstGeom prst="roundRect">
            <a:avLst>
              <a:gd name="adj" fmla="val 19151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788" y="8310252"/>
            <a:ext cx="133325" cy="438113"/>
          </a:xfrm>
          <a:prstGeom prst="roundRect">
            <a:avLst>
              <a:gd name="adj" fmla="val 42865"/>
            </a:avLst>
          </a:prstGeom>
          <a:solidFill>
            <a:srgbClr val="FF3B30"/>
          </a:solidFill>
          <a:ln/>
        </p:spPr>
      </p:sp>
      <p:sp>
        <p:nvSpPr>
          <p:cNvPr id="20" name="Text 18"/>
          <p:cNvSpPr/>
          <p:nvPr/>
        </p:nvSpPr>
        <p:spPr>
          <a:xfrm>
            <a:off x="1809688" y="8330840"/>
            <a:ext cx="6593458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8032316" y="8362590"/>
            <a:ext cx="11084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0.35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902713" y="2572060"/>
            <a:ext cx="7242286" cy="6800577"/>
          </a:xfrm>
          <a:prstGeom prst="roundRect">
            <a:avLst>
              <a:gd name="adj" fmla="val 3922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10359863" y="3029210"/>
            <a:ext cx="6960784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heuristics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359863" y="3707060"/>
            <a:ext cx="153033" cy="414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0608097" y="3707060"/>
            <a:ext cx="5229268" cy="414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&lt; 30% of fair value → </a:t>
            </a:r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flag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359863" y="4331457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0608097" y="4331457"/>
            <a:ext cx="304461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battery information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0359863" y="4951884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10608097" y="4951884"/>
            <a:ext cx="27969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than 2 photos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0359863" y="5572311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0608097" y="5572311"/>
            <a:ext cx="4552255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“para piezas” / damaged wording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0359863" y="6192738"/>
            <a:ext cx="153033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10608097" y="6192738"/>
            <a:ext cx="361855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iCloud-locked / suspicious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334693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VALUE &amp; IMPACT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357067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98355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beats eyeballing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68860"/>
            <a:ext cx="5118075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562075" y="3087935"/>
            <a:ext cx="4707917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Resellers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562075" y="3703836"/>
            <a:ext cx="4408323" cy="1174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hundreds of listings by expected profit in seconds · and never overpay.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84900" y="2668860"/>
            <a:ext cx="5118137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7003975" y="3087935"/>
            <a:ext cx="47079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003975" y="3703836"/>
            <a:ext cx="4408386" cy="1174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objective fair-value second opinion plus a scam radar before you message a seller.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26862" y="2668860"/>
            <a:ext cx="5118137" cy="2590167"/>
          </a:xfrm>
          <a:prstGeom prst="roundRect">
            <a:avLst>
              <a:gd name="adj" fmla="val 10297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5938" y="3087935"/>
            <a:ext cx="4707985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445938" y="3703836"/>
            <a:ext cx="4408386" cy="795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reproducible, versioned pipeline for second-hand price dynamics.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5716178"/>
            <a:ext cx="27781" cy="1144612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1456531" y="5716178"/>
            <a:ext cx="820478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56531" y="6140834"/>
            <a:ext cx="768266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(model, not gut) · exhaustive (every listing) · fast (~1,670 listings/sec) · uncertainty-aware.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372575" y="5716178"/>
            <a:ext cx="27781" cy="1144612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19" name="Text 17"/>
          <p:cNvSpPr/>
          <p:nvPr/>
        </p:nvSpPr>
        <p:spPr>
          <a:xfrm>
            <a:off x="9686106" y="5716178"/>
            <a:ext cx="8204783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naive baseline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686106" y="6140834"/>
            <a:ext cx="7682660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floor R² 0.58 → boosting 0.64; calibrated intervals turn a guess into a confidence.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6089638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STRUGGLES &amp; PROBLEM-SOLVING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850434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1722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real problems, six fixes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3209665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intervals under-covered </a:t>
            </a:r>
            <a:pPr algn="l" indent="0" marL="0">
              <a:buNone/>
            </a:pPr>
            <a:r>
              <a:rPr lang="en-US" sz="2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(60%)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615221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Conformalized Quantile Regression → ~80%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410650" y="3209665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 / Backmarket returned HTTP 403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10650" y="3615221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curl_cffi TLS (JA3) impersonation + cookie-warming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790219"/>
            <a:ext cx="7734287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643749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eBay's sold search is capped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049305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diagnosed; scaled via narrow model×storage queries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10650" y="4790219"/>
            <a:ext cx="7734349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4" name="Text 12"/>
          <p:cNvSpPr/>
          <p:nvPr/>
        </p:nvSpPr>
        <p:spPr>
          <a:xfrm>
            <a:off x="9410650" y="5643749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US + ES data dropped R² 0.74 → 0.61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10650" y="6049305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added market &amp; source features; reweighted to 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7224303"/>
            <a:ext cx="7734287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8077833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crashed on XGBoost 2.x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000" y="8483389"/>
            <a:ext cx="8507716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used XGBoost's native tree-SHAP (pred_contribs)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10650" y="7224303"/>
            <a:ext cx="7734349" cy="9525"/>
          </a:xfrm>
          <a:prstGeom prst="rect">
            <a:avLst/>
          </a:prstGeom>
          <a:solidFill>
            <a:srgbClr val="E8E8ED"/>
          </a:solidFill>
          <a:ln/>
        </p:spPr>
      </p:sp>
      <p:sp>
        <p:nvSpPr>
          <p:cNvPr id="20" name="Text 18"/>
          <p:cNvSpPr/>
          <p:nvPr/>
        </p:nvSpPr>
        <p:spPr>
          <a:xfrm>
            <a:off x="9410650" y="8077833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 / parts polluted the data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410650" y="8483389"/>
            <a:ext cx="850778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8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title junk filter + damaged-device risk flag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363"/>
            <a:ext cx="17602200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USED FROM THE COURSE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9788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→ code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485863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5863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classes · __slots__ · exceptions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10162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5553025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Performance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53025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· vectorized · timeit (5.9× vs CSV)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25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9620188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Visualization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20188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figure types across the analysis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344488" y="2610135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3687351" y="2952998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Parallel &amp; Exceptions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687351" y="3364136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/ backoff · custom errors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1485863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Web Scraping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85863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API · sold HTML · TLS impersonation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210162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553025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· Time Series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3025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Out-of-time split · TimeSeriesSplit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277325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188" y="6467574"/>
            <a:ext cx="3426265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· Supervised ML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20188" y="6878712"/>
            <a:ext cx="3208230" cy="711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· XGBoost · LightGBM · CQR · SHAP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3344488" y="6124711"/>
            <a:ext cx="3800512" cy="3247926"/>
          </a:xfrm>
          <a:prstGeom prst="roundRect">
            <a:avLst>
              <a:gd name="adj" fmla="val 7038"/>
            </a:avLst>
          </a:prstGeom>
          <a:solidFill>
            <a:srgbClr val="1D1D1F"/>
          </a:solidFill>
          <a:ln/>
        </p:spPr>
      </p:sp>
      <p:sp>
        <p:nvSpPr>
          <p:cNvPr id="26" name="Text 24"/>
          <p:cNvSpPr/>
          <p:nvPr/>
        </p:nvSpPr>
        <p:spPr>
          <a:xfrm>
            <a:off x="13687351" y="7221637"/>
            <a:ext cx="3426265" cy="4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tests · 4 notebooks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3687351" y="7688337"/>
            <a:ext cx="3208230" cy="62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packaged, reproducible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24657"/>
            <a:ext cx="2644136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NEXT STEPS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718161" y="914363"/>
            <a:ext cx="778061" cy="298400"/>
          </a:xfrm>
          <a:prstGeom prst="roundRect">
            <a:avLst>
              <a:gd name="adj" fmla="val 50000"/>
            </a:avLst>
          </a:prstGeom>
          <a:ln w="7937">
            <a:solidFill>
              <a:srgbClr val="D2D2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59448" y="960400"/>
            <a:ext cx="571686" cy="244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1460376"/>
            <a:ext cx="17602200" cy="751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400" b="1" spc="-135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143000" y="263072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43038" y="299262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detection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43038" y="346093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 on listing photos to flag probable fakes (S7 deep learning).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277325" y="263072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77363" y="299262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Time-to-sell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77363" y="346093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liquidity · how fast a deal sells · as a 4th score dimension.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480944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38" y="517134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panel data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43038" y="563965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daily scrape to detect actual sales, price drops, time-on-market.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277325" y="4809443"/>
            <a:ext cx="7867674" cy="1912069"/>
          </a:xfrm>
          <a:prstGeom prst="roundRect">
            <a:avLst>
              <a:gd name="adj" fmla="val 1195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77363" y="5171343"/>
            <a:ext cx="7774359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77363" y="5639656"/>
            <a:ext cx="7279627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serve mode, CI on the test suite, GA hyperparameter search vs grid.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43000" y="8408727"/>
            <a:ext cx="5146173" cy="1002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→ fair value → a confident buy/skip call.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2043410" y="8812547"/>
            <a:ext cx="5101590" cy="5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project. The investment score is not financial advice · do your own due diligence.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2026-06-18T00:10:25Z</dcterms:created>
  <dcterms:modified xsi:type="dcterms:W3CDTF">2026-06-18T00:10:25Z</dcterms:modified>
</cp:coreProperties>
</file>